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7" r:id="rId2"/>
  </p:sldIdLst>
  <p:sldSz cx="68580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0587-3202-7C4E-933B-5D31846BF4E1}" v="2" dt="2026-03-09T15:36:51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05"/>
  </p:normalViewPr>
  <p:slideViewPr>
    <p:cSldViewPr snapToGrid="0">
      <p:cViewPr>
        <p:scale>
          <a:sx n="140" d="100"/>
          <a:sy n="140" d="100"/>
        </p:scale>
        <p:origin x="1864" y="-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346836"/>
            <a:ext cx="5829300" cy="286512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322446"/>
            <a:ext cx="5143500" cy="1986914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CCA2-0FB1-5F4B-8ABF-704B11496745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3D4D-1980-3B49-9CE2-92B0D5379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40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CCA2-0FB1-5F4B-8ABF-704B11496745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3D4D-1980-3B49-9CE2-92B0D5379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77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051688"/>
            <a:ext cx="5915025" cy="342328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5507358"/>
            <a:ext cx="5915025" cy="180022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CCA2-0FB1-5F4B-8ABF-704B11496745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3D4D-1980-3B49-9CE2-92B0D5379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51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190750"/>
            <a:ext cx="291465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190750"/>
            <a:ext cx="291465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CCA2-0FB1-5F4B-8ABF-704B11496745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3D4D-1980-3B49-9CE2-92B0D5379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26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38152"/>
            <a:ext cx="5915025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017396"/>
            <a:ext cx="2901255" cy="9886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006090"/>
            <a:ext cx="2901255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017396"/>
            <a:ext cx="2915543" cy="9886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006090"/>
            <a:ext cx="2915543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CCA2-0FB1-5F4B-8ABF-704B11496745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3D4D-1980-3B49-9CE2-92B0D5379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2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CCA2-0FB1-5F4B-8ABF-704B11496745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3D4D-1980-3B49-9CE2-92B0D5379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192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CCA2-0FB1-5F4B-8ABF-704B11496745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3D4D-1980-3B49-9CE2-92B0D5379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83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48640"/>
            <a:ext cx="2211884" cy="19202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184912"/>
            <a:ext cx="3471863" cy="58483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68880"/>
            <a:ext cx="2211884" cy="457390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CCA2-0FB1-5F4B-8ABF-704B11496745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3D4D-1980-3B49-9CE2-92B0D5379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9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48640"/>
            <a:ext cx="2211884" cy="19202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184912"/>
            <a:ext cx="3471863" cy="584835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68880"/>
            <a:ext cx="2211884" cy="457390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CCA2-0FB1-5F4B-8ABF-704B11496745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3D4D-1980-3B49-9CE2-92B0D5379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3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CCA2-0FB1-5F4B-8ABF-704B11496745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3D4D-1980-3B49-9CE2-92B0D5379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41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38150"/>
            <a:ext cx="1478756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38150"/>
            <a:ext cx="4350544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CCA2-0FB1-5F4B-8ABF-704B11496745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3D4D-1980-3B49-9CE2-92B0D5379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4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38152"/>
            <a:ext cx="5915025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190750"/>
            <a:ext cx="5915025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7627622"/>
            <a:ext cx="154305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9CCA2-0FB1-5F4B-8ABF-704B11496745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7627622"/>
            <a:ext cx="231457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7627622"/>
            <a:ext cx="154305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83D4D-1980-3B49-9CE2-92B0D5379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6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61151BA-4401-C5FA-8814-BE4BF626A7D7}"/>
              </a:ext>
            </a:extLst>
          </p:cNvPr>
          <p:cNvSpPr/>
          <p:nvPr/>
        </p:nvSpPr>
        <p:spPr>
          <a:xfrm>
            <a:off x="561444" y="953665"/>
            <a:ext cx="1680761" cy="9636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genome for unique conserved sequence near stop codon (term) allowing at most 2 substitutions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E067C3-CFB3-2199-1ADE-489C6468DFEC}"/>
              </a:ext>
            </a:extLst>
          </p:cNvPr>
          <p:cNvSpPr/>
          <p:nvPr/>
        </p:nvSpPr>
        <p:spPr>
          <a:xfrm>
            <a:off x="561444" y="2386420"/>
            <a:ext cx="1684479" cy="9636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genome for 3-100 tandem repeats of CTCTT (coding repeats, CR) allowing up to 2 substitutions total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29F201-4AD0-F447-EA48-81C837E19A6B}"/>
              </a:ext>
            </a:extLst>
          </p:cNvPr>
          <p:cNvSpPr/>
          <p:nvPr/>
        </p:nvSpPr>
        <p:spPr>
          <a:xfrm>
            <a:off x="2529229" y="7362478"/>
            <a:ext cx="1394440" cy="3836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length </a:t>
            </a:r>
            <a:r>
              <a:rPr lang="en-US" sz="11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opa</a:t>
            </a:r>
            <a:r>
              <a:rPr lang="en-US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 identified</a:t>
            </a:r>
            <a:endParaRPr lang="en-US" sz="11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A0767B-BEC3-15B8-786B-050AC7DBF73D}"/>
              </a:ext>
            </a:extLst>
          </p:cNvPr>
          <p:cNvCxnSpPr>
            <a:cxnSpLocks/>
          </p:cNvCxnSpPr>
          <p:nvPr/>
        </p:nvCxnSpPr>
        <p:spPr>
          <a:xfrm>
            <a:off x="3220604" y="2868227"/>
            <a:ext cx="0" cy="44865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318B37C-C072-B39C-4948-9367E0B277F2}"/>
              </a:ext>
            </a:extLst>
          </p:cNvPr>
          <p:cNvSpPr/>
          <p:nvPr/>
        </p:nvSpPr>
        <p:spPr>
          <a:xfrm>
            <a:off x="561445" y="3866741"/>
            <a:ext cx="1684477" cy="10193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genome for CRs that may contain additional mutations by allowing up to 1 error for each CR unit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F8C1CF6-2367-87F1-9F60-2AC79E2CD57B}"/>
              </a:ext>
            </a:extLst>
          </p:cNvPr>
          <p:cNvCxnSpPr>
            <a:cxnSpLocks/>
          </p:cNvCxnSpPr>
          <p:nvPr/>
        </p:nvCxnSpPr>
        <p:spPr>
          <a:xfrm flipH="1">
            <a:off x="1293242" y="3350034"/>
            <a:ext cx="2" cy="5167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887382F-52F3-C274-8AB5-1C61D721D132}"/>
              </a:ext>
            </a:extLst>
          </p:cNvPr>
          <p:cNvCxnSpPr>
            <a:cxnSpLocks/>
          </p:cNvCxnSpPr>
          <p:nvPr/>
        </p:nvCxnSpPr>
        <p:spPr>
          <a:xfrm>
            <a:off x="1293242" y="4884668"/>
            <a:ext cx="0" cy="5167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B40401A6-4DA9-A45A-1F80-CD863F983DCE}"/>
              </a:ext>
            </a:extLst>
          </p:cNvPr>
          <p:cNvSpPr/>
          <p:nvPr/>
        </p:nvSpPr>
        <p:spPr>
          <a:xfrm>
            <a:off x="561443" y="5404180"/>
            <a:ext cx="1684478" cy="14336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if there is no CR but still an intact </a:t>
            </a:r>
            <a:r>
              <a:rPr lang="en-US" sz="11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opa</a:t>
            </a:r>
            <a:r>
              <a:rPr lang="en-US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 by searching for sequence upstream of CR consisting of a 5-7 poly-A sequence followed by CCTT allowing up to 1 error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BCDCD0-CA59-A2A3-D47E-75A1454612AE}"/>
              </a:ext>
            </a:extLst>
          </p:cNvPr>
          <p:cNvSpPr txBox="1"/>
          <p:nvPr/>
        </p:nvSpPr>
        <p:spPr>
          <a:xfrm>
            <a:off x="1315130" y="5012216"/>
            <a:ext cx="16019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No CR found</a:t>
            </a:r>
            <a:endParaRPr lang="en-US" sz="11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D60A82C-9857-3D84-B148-04985CD1D976}"/>
              </a:ext>
            </a:extLst>
          </p:cNvPr>
          <p:cNvSpPr txBox="1"/>
          <p:nvPr/>
        </p:nvSpPr>
        <p:spPr>
          <a:xfrm>
            <a:off x="2318987" y="4078823"/>
            <a:ext cx="8211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CR found</a:t>
            </a:r>
            <a:endParaRPr lang="en-US" sz="11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93F68F5-2ABB-2C58-3D32-A24DCC67E785}"/>
              </a:ext>
            </a:extLst>
          </p:cNvPr>
          <p:cNvSpPr txBox="1"/>
          <p:nvPr/>
        </p:nvSpPr>
        <p:spPr>
          <a:xfrm>
            <a:off x="2268311" y="5544541"/>
            <a:ext cx="94097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Sequence upstream of CR found</a:t>
            </a:r>
            <a:endParaRPr lang="en-US" sz="11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AC34106-145B-EF6A-0B72-795E8F733038}"/>
              </a:ext>
            </a:extLst>
          </p:cNvPr>
          <p:cNvSpPr txBox="1"/>
          <p:nvPr/>
        </p:nvSpPr>
        <p:spPr>
          <a:xfrm>
            <a:off x="1315132" y="6880861"/>
            <a:ext cx="17071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Sequence upstream of CR not found</a:t>
            </a:r>
            <a:endParaRPr lang="en-US" sz="1100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C95E3FD-0F5A-3DF4-8969-29002A1595E5}"/>
              </a:ext>
            </a:extLst>
          </p:cNvPr>
          <p:cNvCxnSpPr>
            <a:cxnSpLocks/>
          </p:cNvCxnSpPr>
          <p:nvPr/>
        </p:nvCxnSpPr>
        <p:spPr>
          <a:xfrm>
            <a:off x="1293242" y="6837878"/>
            <a:ext cx="0" cy="5168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8D81397E-CA9A-CBE7-F8CE-7CD8D64ED8BC}"/>
              </a:ext>
            </a:extLst>
          </p:cNvPr>
          <p:cNvSpPr/>
          <p:nvPr/>
        </p:nvSpPr>
        <p:spPr>
          <a:xfrm>
            <a:off x="561443" y="7354729"/>
            <a:ext cx="1601953" cy="3836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length </a:t>
            </a:r>
            <a:r>
              <a:rPr lang="en-US" sz="1100" i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opa</a:t>
            </a:r>
            <a:r>
              <a:rPr lang="en-US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 not identified</a:t>
            </a:r>
            <a:endParaRPr lang="en-US" sz="11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5157A8F-8D71-3471-72CE-C3961425BEAC}"/>
              </a:ext>
            </a:extLst>
          </p:cNvPr>
          <p:cNvCxnSpPr>
            <a:cxnSpLocks/>
          </p:cNvCxnSpPr>
          <p:nvPr/>
        </p:nvCxnSpPr>
        <p:spPr>
          <a:xfrm>
            <a:off x="1293242" y="1917281"/>
            <a:ext cx="0" cy="4691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C4E8DB1-065F-7D57-90A6-4E6E67D29B3C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245923" y="2868227"/>
            <a:ext cx="9746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9CC05DCA-F092-3AA5-776E-77F13CADD09F}"/>
              </a:ext>
            </a:extLst>
          </p:cNvPr>
          <p:cNvSpPr txBox="1"/>
          <p:nvPr/>
        </p:nvSpPr>
        <p:spPr>
          <a:xfrm>
            <a:off x="2318987" y="2253467"/>
            <a:ext cx="121811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CR found within 1200bp of a term sequence</a:t>
            </a:r>
            <a:endParaRPr lang="en-US" sz="1100" dirty="0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2E53999-BA5E-A486-33E3-9817D7D41397}"/>
              </a:ext>
            </a:extLst>
          </p:cNvPr>
          <p:cNvCxnSpPr>
            <a:cxnSpLocks/>
          </p:cNvCxnSpPr>
          <p:nvPr/>
        </p:nvCxnSpPr>
        <p:spPr>
          <a:xfrm>
            <a:off x="2245920" y="4382616"/>
            <a:ext cx="9746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E4E5783-678D-9E98-367D-73D80F2A403B}"/>
              </a:ext>
            </a:extLst>
          </p:cNvPr>
          <p:cNvCxnSpPr>
            <a:cxnSpLocks/>
          </p:cNvCxnSpPr>
          <p:nvPr/>
        </p:nvCxnSpPr>
        <p:spPr>
          <a:xfrm>
            <a:off x="2242203" y="6152454"/>
            <a:ext cx="9746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C9B7A8A4-D64E-7399-6563-DEA6D40C1CFC}"/>
              </a:ext>
            </a:extLst>
          </p:cNvPr>
          <p:cNvSpPr txBox="1"/>
          <p:nvPr/>
        </p:nvSpPr>
        <p:spPr>
          <a:xfrm>
            <a:off x="1321970" y="3388664"/>
            <a:ext cx="193218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No CR found within 1200bp of a term sequence</a:t>
            </a:r>
            <a:endParaRPr lang="en-US" sz="11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3B019E5-A570-CD17-5B5A-831459844624}"/>
              </a:ext>
            </a:extLst>
          </p:cNvPr>
          <p:cNvSpPr txBox="1"/>
          <p:nvPr/>
        </p:nvSpPr>
        <p:spPr>
          <a:xfrm>
            <a:off x="561443" y="504075"/>
            <a:ext cx="29179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Identify presence of full length </a:t>
            </a:r>
            <a:r>
              <a:rPr lang="en-US" sz="11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opa</a:t>
            </a:r>
            <a:r>
              <a:rPr lang="en-US" sz="11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gene</a:t>
            </a:r>
            <a:endParaRPr lang="en-US" sz="1100" b="1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7FCD780-C889-BC91-14D0-1AA7C4F135D5}"/>
              </a:ext>
            </a:extLst>
          </p:cNvPr>
          <p:cNvSpPr txBox="1"/>
          <p:nvPr/>
        </p:nvSpPr>
        <p:spPr>
          <a:xfrm>
            <a:off x="4175645" y="338035"/>
            <a:ext cx="254857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Determine precise locations of start codon, stop codon, and coding repeats</a:t>
            </a:r>
            <a:endParaRPr lang="en-US" sz="1100" b="1" dirty="0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E6507FF-EA53-5EDF-13CB-2350D8FDE3FE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923671" y="7554326"/>
            <a:ext cx="3082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BA4F37E-86A7-7DC1-E65B-0C93DC06AD3C}"/>
              </a:ext>
            </a:extLst>
          </p:cNvPr>
          <p:cNvCxnSpPr>
            <a:cxnSpLocks/>
          </p:cNvCxnSpPr>
          <p:nvPr/>
        </p:nvCxnSpPr>
        <p:spPr>
          <a:xfrm flipH="1">
            <a:off x="4231938" y="1435470"/>
            <a:ext cx="3095" cy="61188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9CB5A30-0FBD-492C-31EA-D684078CA957}"/>
              </a:ext>
            </a:extLst>
          </p:cNvPr>
          <p:cNvCxnSpPr>
            <a:cxnSpLocks/>
            <a:endCxn id="119" idx="1"/>
          </p:cNvCxnSpPr>
          <p:nvPr/>
        </p:nvCxnSpPr>
        <p:spPr>
          <a:xfrm>
            <a:off x="4227433" y="1435469"/>
            <a:ext cx="4544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6FEB3C8-F01A-930B-A3A0-4F742DC61E94}"/>
              </a:ext>
            </a:extLst>
          </p:cNvPr>
          <p:cNvSpPr/>
          <p:nvPr/>
        </p:nvSpPr>
        <p:spPr>
          <a:xfrm>
            <a:off x="4681917" y="953665"/>
            <a:ext cx="1536037" cy="963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start codon in the 50bp upstream of CR start and identify stop codon in the term sequence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0FA83E7-38D6-2BFC-7040-A8527F6502DF}"/>
              </a:ext>
            </a:extLst>
          </p:cNvPr>
          <p:cNvSpPr/>
          <p:nvPr/>
        </p:nvSpPr>
        <p:spPr>
          <a:xfrm>
            <a:off x="4681915" y="2345144"/>
            <a:ext cx="1536037" cy="46953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the precise location of CR (which may be different from the estimated location due to errors in the CR):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for sequence upstream of CR consisting of a 5-7 poly-A sequence followed by CCTT allowing up to 1 error. If not found, then use previously identified start of CR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for sequence downstream of CR (CCG) where the first C is optional and allow for up to 1 additional error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57B763AC-2DF6-94C4-0EA5-700346680ADB}"/>
              </a:ext>
            </a:extLst>
          </p:cNvPr>
          <p:cNvCxnSpPr>
            <a:cxnSpLocks/>
            <a:endCxn id="120" idx="1"/>
          </p:cNvCxnSpPr>
          <p:nvPr/>
        </p:nvCxnSpPr>
        <p:spPr>
          <a:xfrm>
            <a:off x="4227431" y="4692809"/>
            <a:ext cx="4544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067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12960</TotalTime>
  <Words>248</Words>
  <Application>Microsoft Macintosh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QinQin Yu</dc:creator>
  <cp:lastModifiedBy>QinQin Yu</cp:lastModifiedBy>
  <cp:revision>1</cp:revision>
  <dcterms:created xsi:type="dcterms:W3CDTF">2026-03-09T14:53:14Z</dcterms:created>
  <dcterms:modified xsi:type="dcterms:W3CDTF">2026-03-18T14:54:08Z</dcterms:modified>
</cp:coreProperties>
</file>